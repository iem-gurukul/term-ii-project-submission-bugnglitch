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2799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4"/>
          </a:solidFill>
          <a:ln w="12700">
            <a:solidFill>
              <a:srgbClr val="0A0E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2743200"/>
          </a:xfrm>
          <a:prstGeom prst="rect">
            <a:avLst/>
          </a:prstGeom>
          <a:solidFill>
            <a:srgbClr val="0F1520"/>
          </a:solidFill>
          <a:ln w="12700">
            <a:solidFill>
              <a:srgbClr val="1E2D45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0" y="1417320"/>
            <a:ext cx="1463040" cy="1463040"/>
          </a:xfrm>
          <a:prstGeom prst="ellipse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0" y="141732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ER-TRIAGE SYSTEM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36118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Room Patient Triage &amp; Queue Management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434840"/>
            <a:ext cx="1508760" cy="292608"/>
          </a:xfrm>
          <a:prstGeom prst="rect">
            <a:avLst/>
          </a:prstGeom>
          <a:solidFill>
            <a:srgbClr val="141C2B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43484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Swing GUI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94560" y="4434840"/>
            <a:ext cx="1508760" cy="292608"/>
          </a:xfrm>
          <a:prstGeom prst="rect">
            <a:avLst/>
          </a:prstGeom>
          <a:solidFill>
            <a:srgbClr val="141C2B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94560" y="443484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Design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40480" y="4434840"/>
            <a:ext cx="1508760" cy="292608"/>
          </a:xfrm>
          <a:prstGeom prst="rect">
            <a:avLst/>
          </a:prstGeom>
          <a:solidFill>
            <a:srgbClr val="141C2B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443484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0" y="4434840"/>
            <a:ext cx="1508760" cy="292608"/>
          </a:xfrm>
          <a:prstGeom prst="rect">
            <a:avLst/>
          </a:prstGeom>
          <a:solidFill>
            <a:srgbClr val="141C2B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0" y="443484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Threads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132320" y="4434840"/>
            <a:ext cx="1508760" cy="292608"/>
          </a:xfrm>
          <a:prstGeom prst="rect">
            <a:avLst/>
          </a:prstGeom>
          <a:solidFill>
            <a:srgbClr val="141C2B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0" y="443484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15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 &amp;  OUR SOLUTION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3931920" cy="4114800"/>
          </a:xfrm>
          <a:prstGeom prst="rect">
            <a:avLst/>
          </a:prstGeom>
          <a:solidFill>
            <a:srgbClr val="0F1520"/>
          </a:solidFill>
          <a:ln w="12700">
            <a:solidFill>
              <a:srgbClr val="FF3B3B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13232"/>
            <a:ext cx="3931920" cy="54864"/>
          </a:xfrm>
          <a:prstGeom prst="rect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6809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316736"/>
            <a:ext cx="128016" cy="128016"/>
          </a:xfrm>
          <a:prstGeom prst="ellipse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6187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patient priority ranking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1828800"/>
            <a:ext cx="128016" cy="128016"/>
          </a:xfrm>
          <a:prstGeom prst="ellipse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7393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cases can wait behind minor ones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2340864"/>
            <a:ext cx="128016" cy="128016"/>
          </a:xfrm>
          <a:prstGeom prst="ellipse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860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patient types with different clinical data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2852928"/>
            <a:ext cx="128016" cy="128016"/>
          </a:xfrm>
          <a:prstGeom prst="ellipse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79806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alerts for long wait times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3364992"/>
            <a:ext cx="128016" cy="128016"/>
          </a:xfrm>
          <a:prstGeom prst="ellipse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31012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activity log or exportable records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33672" y="2468880"/>
            <a:ext cx="676656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33672" y="2468880"/>
            <a:ext cx="676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37760" y="713232"/>
            <a:ext cx="3931920" cy="4114800"/>
          </a:xfrm>
          <a:prstGeom prst="rect">
            <a:avLst/>
          </a:prstGeom>
          <a:solidFill>
            <a:srgbClr val="0F1520"/>
          </a:solidFill>
          <a:ln w="12700">
            <a:solidFill>
              <a:srgbClr val="00C851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713232"/>
            <a:ext cx="3931920" cy="54864"/>
          </a:xfrm>
          <a:prstGeom prst="rect">
            <a:avLst/>
          </a:prstGeom>
          <a:solidFill>
            <a:srgbClr val="00C851"/>
          </a:solidFill>
          <a:ln w="12700">
            <a:solidFill>
              <a:srgbClr val="00C8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76809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74920" y="1316736"/>
            <a:ext cx="128016" cy="128016"/>
          </a:xfrm>
          <a:prstGeom prst="ellipse">
            <a:avLst/>
          </a:prstGeom>
          <a:solidFill>
            <a:srgbClr val="00C851"/>
          </a:solidFill>
          <a:ln w="12700">
            <a:solidFill>
              <a:srgbClr val="00C85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126187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ESI triage from clinical vitals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74920" y="1828800"/>
            <a:ext cx="128016" cy="128016"/>
          </a:xfrm>
          <a:prstGeom prst="ellipse">
            <a:avLst/>
          </a:prstGeom>
          <a:solidFill>
            <a:srgbClr val="00C851"/>
          </a:solidFill>
          <a:ln w="12700">
            <a:solidFill>
              <a:srgbClr val="00C85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7800" y="177393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PriorityQueue always puts critical first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74920" y="2340864"/>
            <a:ext cx="128016" cy="128016"/>
          </a:xfrm>
          <a:prstGeom prst="ellipse">
            <a:avLst/>
          </a:prstGeom>
          <a:solidFill>
            <a:srgbClr val="00C851"/>
          </a:solidFill>
          <a:ln w="12700">
            <a:solidFill>
              <a:srgbClr val="00C8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22860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patient subclasses via OOP inheritance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74920" y="2852928"/>
            <a:ext cx="128016" cy="128016"/>
          </a:xfrm>
          <a:prstGeom prst="ellipse">
            <a:avLst/>
          </a:prstGeom>
          <a:solidFill>
            <a:srgbClr val="00C851"/>
          </a:solidFill>
          <a:ln w="12700">
            <a:solidFill>
              <a:srgbClr val="00C85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57800" y="279806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thread monitors &amp; alerts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074920" y="3364992"/>
            <a:ext cx="128016" cy="128016"/>
          </a:xfrm>
          <a:prstGeom prst="ellipse">
            <a:avLst/>
          </a:prstGeom>
          <a:solidFill>
            <a:srgbClr val="00C851"/>
          </a:solidFill>
          <a:ln w="12700">
            <a:solidFill>
              <a:srgbClr val="00C85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57800" y="331012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FileService logs all activity to CSV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15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3108960" cy="4206240"/>
          </a:xfrm>
          <a:prstGeom prst="rect">
            <a:avLst/>
          </a:prstGeom>
          <a:solidFill>
            <a:srgbClr val="0F1520"/>
          </a:solidFill>
          <a:ln w="12700">
            <a:solidFill>
              <a:srgbClr val="1E2D45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73152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FOLDER STRUCTURE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ER-Triage/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12648" y="14767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13816" y="17647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Main.java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13816" y="20528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model/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13816" y="23408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service/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13816" y="26289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3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exception/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13816" y="291693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8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util/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13816" y="32049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thread/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13816" y="34930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ui/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2648" y="378104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records/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2648" y="40690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compile.bat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2648" y="43571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run.bat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0" y="713232"/>
            <a:ext cx="5212080" cy="713232"/>
          </a:xfrm>
          <a:prstGeom prst="rect">
            <a:avLst/>
          </a:prstGeom>
          <a:solidFill>
            <a:srgbClr val="141C2B"/>
          </a:solidFill>
          <a:ln w="12700">
            <a:solidFill>
              <a:srgbClr val="00D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0" y="713232"/>
            <a:ext cx="73152" cy="7132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94760" y="768096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94760" y="104241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ERMainWindow  ERComponents  ERTheme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0" y="1572768"/>
            <a:ext cx="5212080" cy="713232"/>
          </a:xfrm>
          <a:prstGeom prst="rect">
            <a:avLst/>
          </a:prstGeom>
          <a:solidFill>
            <a:srgbClr val="141C2B"/>
          </a:solidFill>
          <a:ln w="12700">
            <a:solidFill>
              <a:srgbClr val="FF8C00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0" y="1572768"/>
            <a:ext cx="73152" cy="713232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94760" y="162763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794760" y="190195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TriageService  FileService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0" y="2432304"/>
            <a:ext cx="5212080" cy="713232"/>
          </a:xfrm>
          <a:prstGeom prst="rect">
            <a:avLst/>
          </a:prstGeom>
          <a:solidFill>
            <a:srgbClr val="141C2B"/>
          </a:solidFill>
          <a:ln w="12700">
            <a:solidFill>
              <a:srgbClr val="00C851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0" y="2432304"/>
            <a:ext cx="73152" cy="713232"/>
          </a:xfrm>
          <a:prstGeom prst="rect">
            <a:avLst/>
          </a:prstGeom>
          <a:solidFill>
            <a:srgbClr val="00C851"/>
          </a:solidFill>
          <a:ln w="12700">
            <a:solidFill>
              <a:srgbClr val="00C85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94760" y="248716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Layer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794760" y="276148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  GeneralPatient  TraumaPatient  CardiacPatient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0" y="3291840"/>
            <a:ext cx="5212080" cy="713232"/>
          </a:xfrm>
          <a:prstGeom prst="rect">
            <a:avLst/>
          </a:prstGeom>
          <a:solidFill>
            <a:srgbClr val="141C2B"/>
          </a:solidFill>
          <a:ln w="12700">
            <a:solidFill>
              <a:srgbClr val="3B8BF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0" y="3291840"/>
            <a:ext cx="73152" cy="713232"/>
          </a:xfrm>
          <a:prstGeom prst="rect">
            <a:avLst/>
          </a:prstGeom>
          <a:solidFill>
            <a:srgbClr val="3B8BFF"/>
          </a:solidFill>
          <a:ln w="12700">
            <a:solidFill>
              <a:srgbClr val="3B8B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94760" y="3346704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794760" y="362102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InputValidator  ERMonitorThread  Custom Exceptions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26480" y="1426464"/>
            <a:ext cx="457200" cy="146304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1426464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26480" y="2286000"/>
            <a:ext cx="457200" cy="146304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0" y="2286000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26480" y="3145536"/>
            <a:ext cx="457200" cy="146304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0" y="3145536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0" y="4160520"/>
            <a:ext cx="5212080" cy="384048"/>
          </a:xfrm>
          <a:prstGeom prst="rect">
            <a:avLst/>
          </a:prstGeom>
          <a:solidFill>
            <a:srgbClr val="0F15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49040" y="4160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  UI  -&gt;  Service  -&gt;  Model  |  Thread runs independently as daemon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15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CONCEPTS IMPLEMENTED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4251960" cy="1298448"/>
          </a:xfrm>
          <a:prstGeom prst="rect">
            <a:avLst/>
          </a:prstGeom>
          <a:solidFill>
            <a:srgbClr val="0F1520"/>
          </a:solidFill>
          <a:ln w="12700">
            <a:solidFill>
              <a:srgbClr val="00D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13232"/>
            <a:ext cx="64008" cy="12984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841248"/>
            <a:ext cx="420624" cy="420624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412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822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243584"/>
            <a:ext cx="3931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is abstract. Forces all subclasses to implement assessTriageLevel() and getClinicalSummary() — prevents incomplete patient types.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713232"/>
            <a:ext cx="4251960" cy="1298448"/>
          </a:xfrm>
          <a:prstGeom prst="rect">
            <a:avLst/>
          </a:prstGeom>
          <a:solidFill>
            <a:srgbClr val="0F1520"/>
          </a:solidFill>
          <a:ln w="12700">
            <a:solidFill>
              <a:srgbClr val="00C851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713232"/>
            <a:ext cx="64008" cy="1298448"/>
          </a:xfrm>
          <a:prstGeom prst="rect">
            <a:avLst/>
          </a:prstGeom>
          <a:solidFill>
            <a:srgbClr val="00C851"/>
          </a:solidFill>
          <a:ln w="12700">
            <a:solidFill>
              <a:srgbClr val="00C85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841248"/>
            <a:ext cx="420624" cy="420624"/>
          </a:xfrm>
          <a:prstGeom prst="ellipse">
            <a:avLst/>
          </a:prstGeom>
          <a:solidFill>
            <a:srgbClr val="00C851"/>
          </a:solidFill>
          <a:ln w="12700">
            <a:solidFill>
              <a:srgbClr val="00C8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8412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49240" y="822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243584"/>
            <a:ext cx="3931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GeneralPatient, TraumaPatient, CardiacPatient all extend Patient. Shared fields (name, age, ID, status) are defined once.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139696"/>
            <a:ext cx="4251960" cy="1298448"/>
          </a:xfrm>
          <a:prstGeom prst="rect">
            <a:avLst/>
          </a:prstGeom>
          <a:solidFill>
            <a:srgbClr val="0F1520"/>
          </a:solidFill>
          <a:ln w="12700">
            <a:solidFill>
              <a:srgbClr val="FF8C00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139696"/>
            <a:ext cx="64008" cy="1298448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2267712"/>
            <a:ext cx="420624" cy="420624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2677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224942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2670048"/>
            <a:ext cx="3931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PriorityQueue&lt;Patient&gt; holds all 3 types. compareTo() and getClinicalSummary() automatically dispatch to the correct subclass.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09160" y="2139696"/>
            <a:ext cx="4251960" cy="1298448"/>
          </a:xfrm>
          <a:prstGeom prst="rect">
            <a:avLst/>
          </a:prstGeom>
          <a:solidFill>
            <a:srgbClr val="0F1520"/>
          </a:solidFill>
          <a:ln w="12700">
            <a:solidFill>
              <a:srgbClr val="3B8BF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139696"/>
            <a:ext cx="64008" cy="1298448"/>
          </a:xfrm>
          <a:prstGeom prst="rect">
            <a:avLst/>
          </a:prstGeom>
          <a:solidFill>
            <a:srgbClr val="3B8BFF"/>
          </a:solidFill>
          <a:ln w="12700">
            <a:solidFill>
              <a:srgbClr val="3B8B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2267712"/>
            <a:ext cx="420624" cy="420624"/>
          </a:xfrm>
          <a:prstGeom prst="ellipse">
            <a:avLst/>
          </a:prstGeom>
          <a:solidFill>
            <a:srgbClr val="3B8BFF"/>
          </a:solidFill>
          <a:ln w="12700">
            <a:solidFill>
              <a:srgbClr val="3B8B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2677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49240" y="224942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2670048"/>
            <a:ext cx="3931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 are private. Access only via getters/setters. InputValidator hides all clinical validation logic behind static methods.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3566160"/>
            <a:ext cx="4251960" cy="1298448"/>
          </a:xfrm>
          <a:prstGeom prst="rect">
            <a:avLst/>
          </a:prstGeom>
          <a:solidFill>
            <a:srgbClr val="0F1520"/>
          </a:solidFill>
          <a:ln w="12700">
            <a:solidFill>
              <a:srgbClr val="FF3B3B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566160"/>
            <a:ext cx="64008" cy="1298448"/>
          </a:xfrm>
          <a:prstGeom prst="rect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3694176"/>
            <a:ext cx="420624" cy="420624"/>
          </a:xfrm>
          <a:prstGeom prst="ellipse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6941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14400" y="367588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11480" y="4096512"/>
            <a:ext cx="3931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custom exceptions: PatientNotFoundException (checked), DuplicatePatientException (checked), InvalidTriageDataException (unchecked).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22608" y="3572884"/>
            <a:ext cx="4251960" cy="1298448"/>
          </a:xfrm>
          <a:prstGeom prst="rect">
            <a:avLst/>
          </a:prstGeom>
          <a:solidFill>
            <a:srgbClr val="0F1520"/>
          </a:solidFill>
          <a:ln w="12700">
            <a:solidFill>
              <a:srgbClr val="A855F7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3566160"/>
            <a:ext cx="64008" cy="129844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3694176"/>
            <a:ext cx="420624" cy="420624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6941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349240" y="367588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46320" y="4096512"/>
            <a:ext cx="3931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PriorityQueue for sorted wait list. HashMap for O(1) ID lookup. ArrayList for full patient history and CSV export.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15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&amp; POLYMORPHISM IN ACTION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0" y="713232"/>
            <a:ext cx="3657600" cy="1554480"/>
          </a:xfrm>
          <a:prstGeom prst="rect">
            <a:avLst/>
          </a:prstGeom>
          <a:solidFill>
            <a:srgbClr val="141C2B"/>
          </a:solidFill>
          <a:ln w="25400">
            <a:solidFill>
              <a:srgbClr val="00D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0" y="713232"/>
            <a:ext cx="365760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0" y="7772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&lt;&lt;abstract&gt;&gt; Patient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834640" y="12344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assessTriageLevel()  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getClinicalSummary()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compareTo()  — enables PriorityQueue sort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" y="3200400"/>
            <a:ext cx="2148840" cy="1691640"/>
          </a:xfrm>
          <a:prstGeom prst="rect">
            <a:avLst/>
          </a:prstGeom>
          <a:solidFill>
            <a:srgbClr val="0F1520"/>
          </a:solidFill>
          <a:ln w="19050">
            <a:solidFill>
              <a:srgbClr val="00C851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3200400"/>
            <a:ext cx="2148840" cy="54864"/>
          </a:xfrm>
          <a:prstGeom prst="rect">
            <a:avLst/>
          </a:prstGeom>
          <a:solidFill>
            <a:srgbClr val="00C851"/>
          </a:solidFill>
          <a:ln w="12700">
            <a:solidFill>
              <a:srgbClr val="00C8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3255264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GeneralPatient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37033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assessTriageLevel()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getClinicalSummary()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" y="4407408"/>
            <a:ext cx="2002536" cy="384048"/>
          </a:xfrm>
          <a:prstGeom prst="rect">
            <a:avLst/>
          </a:prstGeom>
          <a:solidFill>
            <a:srgbClr val="141C2B"/>
          </a:solidFill>
          <a:ln w="12700">
            <a:solidFill>
              <a:srgbClr val="00C8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4407408"/>
            <a:ext cx="20025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C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Pain, Temp, RR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00C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 Level 1–5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257300" y="2267712"/>
            <a:ext cx="0" cy="932688"/>
          </a:xfrm>
          <a:prstGeom prst="line">
            <a:avLst/>
          </a:prstGeom>
          <a:noFill/>
          <a:ln w="19050">
            <a:solidFill>
              <a:srgbClr val="4A607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193292" y="2240280"/>
            <a:ext cx="128016" cy="128016"/>
          </a:xfrm>
          <a:prstGeom prst="ellipse">
            <a:avLst/>
          </a:prstGeom>
          <a:solidFill>
            <a:srgbClr val="0A0E14"/>
          </a:solidFill>
          <a:ln w="12700">
            <a:solidFill>
              <a:srgbClr val="4A60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0440" y="3200400"/>
            <a:ext cx="2148840" cy="1691640"/>
          </a:xfrm>
          <a:prstGeom prst="rect">
            <a:avLst/>
          </a:prstGeom>
          <a:solidFill>
            <a:srgbClr val="0F1520"/>
          </a:solidFill>
          <a:ln w="19050">
            <a:solidFill>
              <a:srgbClr val="FF8C00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520440" y="3200400"/>
            <a:ext cx="2148840" cy="54864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0440" y="3255264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TraumaPatient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11880" y="37033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assessTriageLevel()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getClinicalSummary()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593592" y="4407408"/>
            <a:ext cx="2002536" cy="384048"/>
          </a:xfrm>
          <a:prstGeom prst="rect">
            <a:avLst/>
          </a:prstGeom>
          <a:solidFill>
            <a:srgbClr val="141C2B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93592" y="4407408"/>
            <a:ext cx="20025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GCS, Consciousness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 Level 1–4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94860" y="2267712"/>
            <a:ext cx="0" cy="932688"/>
          </a:xfrm>
          <a:prstGeom prst="line">
            <a:avLst/>
          </a:prstGeom>
          <a:noFill/>
          <a:ln w="19050">
            <a:solidFill>
              <a:srgbClr val="4A6070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4530852" y="2240280"/>
            <a:ext cx="128016" cy="128016"/>
          </a:xfrm>
          <a:prstGeom prst="ellipse">
            <a:avLst/>
          </a:prstGeom>
          <a:solidFill>
            <a:srgbClr val="0A0E14"/>
          </a:solidFill>
          <a:ln w="12700">
            <a:solidFill>
              <a:srgbClr val="4A60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0" y="3200400"/>
            <a:ext cx="2148840" cy="1691640"/>
          </a:xfrm>
          <a:prstGeom prst="rect">
            <a:avLst/>
          </a:prstGeom>
          <a:solidFill>
            <a:srgbClr val="0F1520"/>
          </a:solidFill>
          <a:ln w="19050">
            <a:solidFill>
              <a:srgbClr val="FF3B3B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58000" y="3200400"/>
            <a:ext cx="2148840" cy="54864"/>
          </a:xfrm>
          <a:prstGeom prst="rect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3255264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CardiacPatient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49440" y="37033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assessTriageLevel()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getClinicalSummary()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31152" y="4407408"/>
            <a:ext cx="2002536" cy="384048"/>
          </a:xfrm>
          <a:prstGeom prst="rect">
            <a:avLst/>
          </a:prstGeom>
          <a:solidFill>
            <a:srgbClr val="141C2B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31152" y="4407408"/>
            <a:ext cx="20025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HR, BP, STEMI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 Level 1–4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932420" y="2267712"/>
            <a:ext cx="0" cy="932688"/>
          </a:xfrm>
          <a:prstGeom prst="line">
            <a:avLst/>
          </a:prstGeom>
          <a:noFill/>
          <a:ln w="19050">
            <a:solidFill>
              <a:srgbClr val="4A6070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7868412" y="2240280"/>
            <a:ext cx="128016" cy="128016"/>
          </a:xfrm>
          <a:prstGeom prst="ellipse">
            <a:avLst/>
          </a:prstGeom>
          <a:solidFill>
            <a:srgbClr val="0A0E14"/>
          </a:solidFill>
          <a:ln w="12700">
            <a:solidFill>
              <a:srgbClr val="4A607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800600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15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GUI — FEATURES &amp; DEMO WALKTHROUGH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3931920" cy="4206240"/>
          </a:xfrm>
          <a:prstGeom prst="rect">
            <a:avLst/>
          </a:prstGeom>
          <a:solidFill>
            <a:srgbClr val="0F1520"/>
          </a:solidFill>
          <a:ln w="12700">
            <a:solidFill>
              <a:srgbClr val="00D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731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PANELS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170432"/>
            <a:ext cx="3712464" cy="530352"/>
          </a:xfrm>
          <a:prstGeom prst="rect">
            <a:avLst/>
          </a:prstGeom>
          <a:solidFill>
            <a:srgbClr val="141C2B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170432"/>
            <a:ext cx="64008" cy="5303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18872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 Patient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12064" y="13990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switches between General / Trauma / Cardiac. Triage level auto-assigned on submit.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84048" y="1810512"/>
            <a:ext cx="3712464" cy="530352"/>
          </a:xfrm>
          <a:prstGeom prst="rect">
            <a:avLst/>
          </a:prstGeom>
          <a:solidFill>
            <a:srgbClr val="141C2B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1810512"/>
            <a:ext cx="64008" cy="530352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82880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Queue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2064" y="203911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table sorted by ESI priority. Discharge button per row. Call Next button.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4048" y="2450592"/>
            <a:ext cx="3712464" cy="530352"/>
          </a:xfrm>
          <a:prstGeom prst="rect">
            <a:avLst/>
          </a:prstGeom>
          <a:solidFill>
            <a:srgbClr val="141C2B"/>
          </a:solidFill>
          <a:ln w="12700">
            <a:solidFill>
              <a:srgbClr val="00C85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2450592"/>
            <a:ext cx="64008" cy="530352"/>
          </a:xfrm>
          <a:prstGeom prst="rect">
            <a:avLst/>
          </a:prstGeom>
          <a:solidFill>
            <a:srgbClr val="00C851"/>
          </a:solidFill>
          <a:ln w="12700">
            <a:solidFill>
              <a:srgbClr val="00C8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246888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Dashboard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2064" y="267919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colour-coded stat cards (one per ESI level) + full patient history table.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84048" y="3090672"/>
            <a:ext cx="3712464" cy="530352"/>
          </a:xfrm>
          <a:prstGeom prst="rect">
            <a:avLst/>
          </a:prstGeom>
          <a:solidFill>
            <a:srgbClr val="141C2B"/>
          </a:solidFill>
          <a:ln w="12700">
            <a:solidFill>
              <a:srgbClr val="3B8B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3090672"/>
            <a:ext cx="64008" cy="530352"/>
          </a:xfrm>
          <a:prstGeom prst="rect">
            <a:avLst/>
          </a:prstGeom>
          <a:solidFill>
            <a:srgbClr val="3B8BFF"/>
          </a:solidFill>
          <a:ln w="12700">
            <a:solidFill>
              <a:srgbClr val="3B8B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31089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Patient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2064" y="33192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ID. Shows full detail card with discharge option.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84048" y="3730752"/>
            <a:ext cx="3712464" cy="530352"/>
          </a:xfrm>
          <a:prstGeom prst="rect">
            <a:avLst/>
          </a:prstGeom>
          <a:solidFill>
            <a:srgbClr val="141C2B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3730752"/>
            <a:ext cx="64008" cy="530352"/>
          </a:xfrm>
          <a:prstGeom prst="rect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" y="37490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2064" y="395935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Right-side live panel. Colour-coded entries: admit / call / discharge / alert.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434840" y="685800"/>
            <a:ext cx="4434840" cy="4206240"/>
          </a:xfrm>
          <a:prstGeom prst="rect">
            <a:avLst/>
          </a:prstGeom>
          <a:solidFill>
            <a:srgbClr val="0F1520"/>
          </a:solidFill>
          <a:ln w="12700">
            <a:solidFill>
              <a:srgbClr val="FF8C00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434840" y="73152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SCENARIO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0" y="1207008"/>
            <a:ext cx="384048" cy="384048"/>
          </a:xfrm>
          <a:prstGeom prst="ellipse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12070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29200" y="11887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 Cardiac — STEMI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0" y="1399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ST-Elevation ticked -&gt; auto ESI-1 RESUSCITATION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0" y="1847088"/>
            <a:ext cx="384048" cy="384048"/>
          </a:xfrm>
          <a:prstGeom prst="ellipse">
            <a:avLst/>
          </a:prstGeom>
          <a:solidFill>
            <a:srgbClr val="3B8BFF"/>
          </a:solidFill>
          <a:ln w="12700">
            <a:solidFill>
              <a:srgbClr val="3B8B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0" y="1847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029200" y="18288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 General — pain 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0" y="20391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6/10, temp 38.6°C -&gt; auto ESI-3 URGENT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72000" y="2487168"/>
            <a:ext cx="384048" cy="38404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0" y="24871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029200" y="24688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Waiting Queue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0" y="26791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appears FIRST despite arriving second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572000" y="3127248"/>
            <a:ext cx="384048" cy="384048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0" y="31272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029200" y="31089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Next Patient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29200" y="33192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ESI-1 Cardiac called. Status -&gt; IN_TREATMENT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572000" y="3767328"/>
            <a:ext cx="384048" cy="384048"/>
          </a:xfrm>
          <a:prstGeom prst="ellipse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0" y="37673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029200" y="37490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Alert fires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029200" y="39593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ESI-1 waits &gt;2min, red alert in Activity Log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434840" y="4645152"/>
            <a:ext cx="4434840" cy="274320"/>
          </a:xfrm>
          <a:prstGeom prst="rect">
            <a:avLst/>
          </a:prstGeom>
          <a:solidFill>
            <a:srgbClr val="141C2B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34840" y="4645152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is the proof: severity beats arrival order every time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15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3931920" cy="4206240"/>
          </a:xfrm>
          <a:prstGeom prst="rect">
            <a:avLst/>
          </a:prstGeom>
          <a:solidFill>
            <a:srgbClr val="0F1520"/>
          </a:solidFill>
          <a:ln w="12700">
            <a:solidFill>
              <a:srgbClr val="1E2D45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7315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STRUCTURE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ER-Triage/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44475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71907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Main.java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99339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model/  (5 files)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226771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service/  (2 files)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254203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3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exception/  (3 files)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281635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8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util/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309067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thread/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336499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ui/  (3 files)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63931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records/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91363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compile.bat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418795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run.bat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34840" y="685800"/>
            <a:ext cx="4434840" cy="4206240"/>
          </a:xfrm>
          <a:prstGeom prst="rect">
            <a:avLst/>
          </a:prstGeom>
          <a:solidFill>
            <a:srgbClr val="0F1520"/>
          </a:solidFill>
          <a:ln w="12700">
            <a:solidFill>
              <a:srgbClr val="00C851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434840" y="731520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COMPILE &amp; RUN STEPS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1207008"/>
            <a:ext cx="347472" cy="34747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12070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10912" y="11887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folder in VS Code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10912" y="1408176"/>
            <a:ext cx="3657600" cy="237744"/>
          </a:xfrm>
          <a:prstGeom prst="rect">
            <a:avLst/>
          </a:prstGeom>
          <a:solidFill>
            <a:srgbClr val="141C2B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1408176"/>
            <a:ext cx="3529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 ER-Triage  folder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0" y="1901952"/>
            <a:ext cx="347472" cy="34747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19019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10912" y="188366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Terminal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10912" y="2103120"/>
            <a:ext cx="3657600" cy="237744"/>
          </a:xfrm>
          <a:prstGeom prst="rect">
            <a:avLst/>
          </a:prstGeom>
          <a:solidFill>
            <a:srgbClr val="141C2B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2103120"/>
            <a:ext cx="3529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  -&gt;  Terminal  (Ctrl + ` 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0" y="2596896"/>
            <a:ext cx="347472" cy="347472"/>
          </a:xfrm>
          <a:prstGeom prst="ellipse">
            <a:avLst/>
          </a:prstGeom>
          <a:solidFill>
            <a:srgbClr val="00C851"/>
          </a:solidFill>
          <a:ln w="12700">
            <a:solidFill>
              <a:srgbClr val="00C85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25968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10912" y="25786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compile script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10912" y="2798064"/>
            <a:ext cx="3657600" cy="237744"/>
          </a:xfrm>
          <a:prstGeom prst="rect">
            <a:avLst/>
          </a:prstGeom>
          <a:solidFill>
            <a:srgbClr val="141C2B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4920" y="2798064"/>
            <a:ext cx="3529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compile.bat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0" y="3291840"/>
            <a:ext cx="347472" cy="347472"/>
          </a:xfrm>
          <a:prstGeom prst="ellipse">
            <a:avLst/>
          </a:prstGeom>
          <a:solidFill>
            <a:srgbClr val="00C851"/>
          </a:solidFill>
          <a:ln w="12700">
            <a:solidFill>
              <a:srgbClr val="00C85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0" y="3291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010912" y="32735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application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10912" y="3493008"/>
            <a:ext cx="3657600" cy="237744"/>
          </a:xfrm>
          <a:prstGeom prst="rect">
            <a:avLst/>
          </a:prstGeom>
          <a:solidFill>
            <a:srgbClr val="141C2B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74920" y="3493008"/>
            <a:ext cx="3529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run.bat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0" y="3986784"/>
            <a:ext cx="347472" cy="347472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0" y="39867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010912" y="396849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window opens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010912" y="4187952"/>
            <a:ext cx="3657600" cy="237744"/>
          </a:xfrm>
          <a:prstGeom prst="rect">
            <a:avLst/>
          </a:prstGeom>
          <a:solidFill>
            <a:srgbClr val="141C2B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74920" y="4187952"/>
            <a:ext cx="3529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Dark-themed Swing window appears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434840" y="4645152"/>
            <a:ext cx="4434840" cy="274320"/>
          </a:xfrm>
          <a:prstGeom prst="rect">
            <a:avLst/>
          </a:prstGeom>
          <a:solidFill>
            <a:srgbClr val="141C2B"/>
          </a:solidFill>
          <a:ln w="12700">
            <a:solidFill>
              <a:srgbClr val="4A607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34840" y="4645152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Requirements: Java 11 or higher  |  No external libraries needed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15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 &amp;  DESIGN DECISIONS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3931920" cy="4206240"/>
          </a:xfrm>
          <a:prstGeom prst="rect">
            <a:avLst/>
          </a:prstGeom>
          <a:solidFill>
            <a:srgbClr val="0F1520"/>
          </a:solidFill>
          <a:ln w="12700">
            <a:solidFill>
              <a:srgbClr val="00D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7315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CONCEPTS COVERED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" y="1161288"/>
            <a:ext cx="201168" cy="201168"/>
          </a:xfrm>
          <a:prstGeom prst="rect">
            <a:avLst/>
          </a:prstGeom>
          <a:solidFill>
            <a:srgbClr val="00C851"/>
          </a:solidFill>
          <a:ln w="12700">
            <a:solidFill>
              <a:srgbClr val="00C8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13385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Abstraction: </a:t>
            </a: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abstract class + abstract methods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84048" y="1517904"/>
            <a:ext cx="201168" cy="201168"/>
          </a:xfrm>
          <a:prstGeom prst="rect">
            <a:avLst/>
          </a:prstGeom>
          <a:solidFill>
            <a:srgbClr val="00C851"/>
          </a:solidFill>
          <a:ln w="12700">
            <a:solidFill>
              <a:srgbClr val="00C8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49047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Encapsulation: </a:t>
            </a: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fields, getters/setters only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4048" y="1874520"/>
            <a:ext cx="201168" cy="201168"/>
          </a:xfrm>
          <a:prstGeom prst="rect">
            <a:avLst/>
          </a:prstGeom>
          <a:solidFill>
            <a:srgbClr val="00C851"/>
          </a:solidFill>
          <a:ln w="12700">
            <a:solidFill>
              <a:srgbClr val="00C8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84708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Inheritance: </a:t>
            </a: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subclasses extend Patient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4048" y="2231136"/>
            <a:ext cx="201168" cy="201168"/>
          </a:xfrm>
          <a:prstGeom prst="rect">
            <a:avLst/>
          </a:prstGeom>
          <a:solidFill>
            <a:srgbClr val="00C851"/>
          </a:solidFill>
          <a:ln w="12700">
            <a:solidFill>
              <a:srgbClr val="00C8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20370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Polymorphism: </a:t>
            </a: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PriorityQueue&lt;Patient&gt; mixed types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" y="2587752"/>
            <a:ext cx="201168" cy="201168"/>
          </a:xfrm>
          <a:prstGeom prst="rect">
            <a:avLst/>
          </a:prstGeom>
          <a:solidFill>
            <a:srgbClr val="00C851"/>
          </a:solidFill>
          <a:ln w="12700">
            <a:solidFill>
              <a:srgbClr val="00C8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56032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Handling: </a:t>
            </a: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custom exception classes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2944368"/>
            <a:ext cx="201168" cy="201168"/>
          </a:xfrm>
          <a:prstGeom prst="rect">
            <a:avLst/>
          </a:prstGeom>
          <a:solidFill>
            <a:srgbClr val="00C851"/>
          </a:solidFill>
          <a:ln w="12700">
            <a:solidFill>
              <a:srgbClr val="00C8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91693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Collections: </a:t>
            </a: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PriorityQueue + HashMap + ArrayList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4048" y="3300984"/>
            <a:ext cx="201168" cy="201168"/>
          </a:xfrm>
          <a:prstGeom prst="rect">
            <a:avLst/>
          </a:prstGeom>
          <a:solidFill>
            <a:srgbClr val="00C851"/>
          </a:solidFill>
          <a:ln w="12700">
            <a:solidFill>
              <a:srgbClr val="00C8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27355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Handling: </a:t>
            </a: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FileService — log + CSV export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4048" y="3657600"/>
            <a:ext cx="201168" cy="201168"/>
          </a:xfrm>
          <a:prstGeom prst="rect">
            <a:avLst/>
          </a:prstGeom>
          <a:solidFill>
            <a:srgbClr val="00C851"/>
          </a:solidFill>
          <a:ln w="12700">
            <a:solidFill>
              <a:srgbClr val="00C8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63016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Threads: </a:t>
            </a: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ERMonitorThread implements Runnable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434840" y="685800"/>
            <a:ext cx="4434840" cy="4206240"/>
          </a:xfrm>
          <a:prstGeom prst="rect">
            <a:avLst/>
          </a:prstGeom>
          <a:solidFill>
            <a:srgbClr val="0F1520"/>
          </a:solidFill>
          <a:ln w="12700">
            <a:solidFill>
              <a:srgbClr val="FF8C00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434840" y="731520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— DESIGN DECISIONS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44568" y="1161288"/>
            <a:ext cx="4206240" cy="530352"/>
          </a:xfrm>
          <a:prstGeom prst="rect">
            <a:avLst/>
          </a:prstGeom>
          <a:solidFill>
            <a:srgbClr val="141C2B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1188720"/>
            <a:ext cx="4059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abstract Patient?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17720" y="1399032"/>
            <a:ext cx="4059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every subtype to implement triage rules at compile time — prevents silent bugs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44568" y="1783080"/>
            <a:ext cx="4206240" cy="530352"/>
          </a:xfrm>
          <a:prstGeom prst="rect">
            <a:avLst/>
          </a:prstGeom>
          <a:solidFill>
            <a:srgbClr val="141C2B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1810512"/>
            <a:ext cx="4059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PriorityQueue?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17720" y="2020824"/>
            <a:ext cx="4059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Auto-sorts on insert O(log n) — severity always first without manual sorting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44568" y="2404872"/>
            <a:ext cx="4206240" cy="530352"/>
          </a:xfrm>
          <a:prstGeom prst="rect">
            <a:avLst/>
          </a:prstGeom>
          <a:solidFill>
            <a:srgbClr val="141C2B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2432304"/>
            <a:ext cx="4059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HashMap registry?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17720" y="2642616"/>
            <a:ext cx="4059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lookup by ID — queue does not support random access search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44568" y="3026664"/>
            <a:ext cx="4206240" cy="530352"/>
          </a:xfrm>
          <a:prstGeom prst="rect">
            <a:avLst/>
          </a:prstGeom>
          <a:solidFill>
            <a:srgbClr val="141C2B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0" y="3054096"/>
            <a:ext cx="4059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daemon thread?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17720" y="3264408"/>
            <a:ext cx="4059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Auto-stops when main app exits — no manual cleanup needed on shutdown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44568" y="3648456"/>
            <a:ext cx="4206240" cy="530352"/>
          </a:xfrm>
          <a:prstGeom prst="rect">
            <a:avLst/>
          </a:prstGeom>
          <a:solidFill>
            <a:srgbClr val="141C2B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17720" y="3675888"/>
            <a:ext cx="4059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checked exceptions?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617720" y="3886200"/>
            <a:ext cx="4059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forces callers to handle patient-not-found and duplicate cases explicitly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805</Words>
  <Application>Microsoft Office PowerPoint</Application>
  <PresentationFormat>On-screen Show (16:9)</PresentationFormat>
  <Paragraphs>179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ER-Triage System</dc:title>
  <dc:subject>PptxGenJS Presentation</dc:subject>
  <dc:creator>PptxGenJS</dc:creator>
  <cp:lastModifiedBy>Triparna Das</cp:lastModifiedBy>
  <cp:revision>2</cp:revision>
  <dcterms:created xsi:type="dcterms:W3CDTF">2026-03-20T17:30:46Z</dcterms:created>
  <dcterms:modified xsi:type="dcterms:W3CDTF">2026-03-20T17:59:21Z</dcterms:modified>
</cp:coreProperties>
</file>